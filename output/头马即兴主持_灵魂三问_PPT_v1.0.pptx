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A63"/>
                </a:solidFill>
                <a:latin typeface="Arial"/>
              </a:defRPr>
            </a:pPr>
            <a:r>
              <a:t>即兴演讲环节流程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82880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A63"/>
                </a:solidFill>
                <a:latin typeface="Arial"/>
              </a:defRPr>
            </a:pPr>
            <a:r>
              <a:t>开场引言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547"/>
                </a:solidFill>
                <a:latin typeface="Arial"/>
              </a:defRPr>
            </a:pPr>
            <a:r>
              <a:t>2分钟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4042"/>
                </a:solidFill>
                <a:latin typeface="Arial"/>
              </a:defRPr>
            </a:pPr>
            <a:r>
              <a:t>介绍'有力的发问'与今晚主题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A63"/>
                </a:solidFill>
                <a:latin typeface="Arial"/>
              </a:defRPr>
            </a:pPr>
            <a:r>
              <a:t>第一轮·使命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547"/>
                </a:solidFill>
                <a:latin typeface="Arial"/>
              </a:defRPr>
            </a:pPr>
            <a:r>
              <a:t>6分钟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4042"/>
                </a:solidFill>
                <a:latin typeface="Arial"/>
              </a:defRPr>
            </a:pPr>
            <a:r>
              <a:t>3位朋友 × 2分钟 | 你为什么存在？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A63"/>
                </a:solidFill>
                <a:latin typeface="Arial"/>
              </a:defRPr>
            </a:pPr>
            <a:r>
              <a:t>第二轮·愿景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547"/>
                </a:solidFill>
                <a:latin typeface="Arial"/>
              </a:defRPr>
            </a:pPr>
            <a:r>
              <a:t>6分钟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4042"/>
                </a:solidFill>
                <a:latin typeface="Arial"/>
              </a:defRPr>
            </a:pPr>
            <a:r>
              <a:t>3位朋友 × 2分钟 | 你要去向何方？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A63"/>
                </a:solidFill>
                <a:latin typeface="Arial"/>
              </a:defRPr>
            </a:pPr>
            <a:r>
              <a:t>第三轮·价值观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547"/>
                </a:solidFill>
                <a:latin typeface="Arial"/>
              </a:defRPr>
            </a:pPr>
            <a:r>
              <a:t>6分钟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4042"/>
                </a:solidFill>
                <a:latin typeface="Arial"/>
              </a:defRPr>
            </a:pPr>
            <a:r>
              <a:t>3位朋友 × 2分钟 | 你坚持什么？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669280"/>
            <a:ext cx="457200" cy="45720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A63"/>
                </a:solidFill>
                <a:latin typeface="Arial"/>
              </a:defRPr>
            </a:pPr>
            <a:r>
              <a:t>收尾总结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669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547"/>
                </a:solidFill>
                <a:latin typeface="Arial"/>
              </a:defRPr>
            </a:pPr>
            <a:r>
              <a:t>2分钟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4042"/>
                </a:solidFill>
                <a:latin typeface="Arial"/>
              </a:defRPr>
            </a:pPr>
            <a:r>
              <a:t>设计意图讲解 + 送给伙伴的话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14042"/>
                </a:solidFill>
                <a:latin typeface="Arial"/>
              </a:defRPr>
            </a:pPr>
            <a:r>
              <a:t>总时长：20分钟 | 参与人数：9位 | 柳州企业家头马第190次例会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D1A63"/>
                </a:solidFill>
                <a:latin typeface="Arial"/>
              </a:defRPr>
            </a:pPr>
            <a:r>
              <a:t>有力的发问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4042"/>
                </a:solidFill>
                <a:latin typeface="Arial"/>
              </a:defRPr>
            </a:pPr>
            <a:r>
              <a:t>我做商业教练，有个核心工具叫"有力的发问"。</a:t>
            </a:r>
            <a:br/>
            <a:br/>
            <a:r>
              <a:t>不是问"你怎么想的"，</a:t>
            </a:r>
            <a:br/>
            <a:r>
              <a:t>是问一些让你停下来、重新看自己的问题。</a:t>
            </a:r>
            <a:br/>
            <a:br/>
            <a:r>
              <a:t>今晚我想用这个工具，</a:t>
            </a:r>
            <a:br/>
            <a:r>
              <a:t>带大家走一遍企业的"灵魂三问"。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0E9F"/>
                </a:solidFill>
                <a:latin typeface="Arial"/>
              </a:defRPr>
            </a:pPr>
            <a:r>
              <a:t>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14042"/>
                </a:solidFill>
                <a:latin typeface="Arial"/>
              </a:defRPr>
            </a:pPr>
            <a:r>
              <a:t>你为什么存在？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572000"/>
            <a:ext cx="3200400" cy="54864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709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0E9F"/>
                </a:solidFill>
                <a:latin typeface="Arial"/>
              </a:defRPr>
            </a:pPr>
            <a:r>
              <a:t>愿景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14042"/>
                </a:solidFill>
                <a:latin typeface="Arial"/>
              </a:defRPr>
            </a:pPr>
            <a:r>
              <a:t>你要去向何方？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572000"/>
            <a:ext cx="3200400" cy="54864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709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0E9F"/>
                </a:solidFill>
                <a:latin typeface="Arial"/>
              </a:defRPr>
            </a:pPr>
            <a:r>
              <a:t>价值观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14042"/>
                </a:solidFill>
                <a:latin typeface="Arial"/>
              </a:defRPr>
            </a:pPr>
            <a:r>
              <a:t>你坚持什么？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A63"/>
                </a:solidFill>
                <a:latin typeface="Arial"/>
              </a:defRPr>
            </a:pPr>
            <a:r>
              <a:t>灵魂三问 · 九宫格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82880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828800" cy="54864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0E9F"/>
                </a:solidFill>
                <a:latin typeface="Arial"/>
              </a:defRPr>
            </a:pPr>
            <a:r>
              <a:t>使命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第一个客户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最骄傲的时刻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201168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如果重来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1828800" cy="54864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0E9F"/>
                </a:solidFill>
                <a:latin typeface="Arial"/>
              </a:defRPr>
            </a:pPr>
            <a:r>
              <a:t>愿景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47472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657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三年后的画面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别人眼中的你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347472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3657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想留下的东西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1828800" cy="54864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0E9F"/>
                </a:solidFill>
                <a:latin typeface="Arial"/>
              </a:defRPr>
            </a:pPr>
            <a:r>
              <a:t>价值观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493776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5120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绝不妥协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93776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团队最像你的地方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4937760"/>
            <a:ext cx="301752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5120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4042"/>
                </a:solidFill>
                <a:latin typeface="Arial"/>
              </a:defRPr>
            </a:pPr>
            <a:r>
              <a:t>给新人的一句话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1A63"/>
                </a:solidFill>
                <a:latin typeface="Arial"/>
              </a:defRPr>
            </a:pPr>
            <a:r>
              <a:t>第一轮 · 使命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0E9F"/>
                </a:solidFill>
                <a:latin typeface="Arial"/>
              </a:defRPr>
            </a:pPr>
            <a:r>
              <a:t>你为什么存在？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A63"/>
                </a:solidFill>
                <a:latin typeface="Arial"/>
              </a:defRPr>
            </a:pPr>
            <a:r>
              <a:t>第一轮 · 使命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0E9F"/>
                </a:solidFill>
                <a:latin typeface="Arial"/>
              </a:defRPr>
            </a:pPr>
            <a:r>
              <a:t>你为什么存在？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371600" cy="254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第一个客户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94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最骄傲的时刻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66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如果重来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1A63"/>
                </a:solidFill>
                <a:latin typeface="Arial"/>
              </a:defRPr>
            </a:pPr>
            <a:r>
              <a:t>第二轮 · 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0E9F"/>
                </a:solidFill>
                <a:latin typeface="Arial"/>
              </a:defRPr>
            </a:pPr>
            <a:r>
              <a:t>你要去向何方？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A63"/>
                </a:solidFill>
                <a:latin typeface="Arial"/>
              </a:defRPr>
            </a:pPr>
            <a:r>
              <a:t>第二轮 · 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0E9F"/>
                </a:solidFill>
                <a:latin typeface="Arial"/>
              </a:defRPr>
            </a:pPr>
            <a:r>
              <a:t>你要去向何方？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371600" cy="254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三年后的画面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94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别人眼中的你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66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想留下的东西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1A63"/>
                </a:solidFill>
                <a:latin typeface="Arial"/>
              </a:defRPr>
            </a:pPr>
            <a:r>
              <a:t>第三轮 · 价值观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0E9F"/>
                </a:solidFill>
                <a:latin typeface="Arial"/>
              </a:defRPr>
            </a:pPr>
            <a:r>
              <a:t>你坚持什么？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A63"/>
                </a:solidFill>
                <a:latin typeface="Arial"/>
              </a:defRPr>
            </a:pPr>
            <a:r>
              <a:t>第三轮 · 价值观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0E9F"/>
                </a:solidFill>
                <a:latin typeface="Arial"/>
              </a:defRPr>
            </a:pPr>
            <a:r>
              <a:t>你坚持什么？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371600" cy="254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绝不妥协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94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团队最像你的地方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731520" cy="731520"/>
          </a:xfrm>
          <a:prstGeom prst="rect">
            <a:avLst/>
          </a:prstGeom>
          <a:solidFill>
            <a:srgbClr val="060E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060E9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66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14042"/>
                </a:solidFill>
                <a:latin typeface="Arial"/>
              </a:defRPr>
            </a:pPr>
            <a:r>
              <a:t>给新人的一句话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A63"/>
                </a:solidFill>
                <a:latin typeface="Arial"/>
              </a:defRPr>
            </a:pPr>
            <a:r>
              <a:t>为什么这样设计？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82880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14042"/>
                </a:solidFill>
                <a:latin typeface="Arial"/>
              </a:defRPr>
            </a:pPr>
            <a:r>
              <a:t>关键词而非问题 —— 给演讲者留白，让故事自然流淌</a:t>
            </a:r>
            <a:br/>
            <a:br/>
            <a:r>
              <a:t>从使命到愿景到价值观 —— 循序渐进，由己及人</a:t>
            </a:r>
            <a:br/>
            <a:br/>
            <a:r>
              <a:t>不点评只承上启下 —— 尊重每位演讲者，保持流程流畅</a:t>
            </a:r>
            <a:br/>
            <a:br/>
            <a:r>
              <a:t>不销而销 —— 用"有力的发问"展示教练能力，而非推销产品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A63"/>
                </a:solidFill>
                <a:latin typeface="Arial"/>
              </a:defRPr>
            </a:pPr>
            <a:r>
              <a:t>送给伙伴的话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82880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14042"/>
                </a:solidFill>
                <a:latin typeface="Arial"/>
              </a:defRPr>
            </a:pPr>
            <a:r>
              <a:t>九个人，九个答案。</a:t>
            </a:r>
            <a:br/>
            <a:br/>
            <a:r>
              <a:t>没有标准答案，但每个答案都在说同一件事——</a:t>
            </a:r>
            <a:br/>
            <a:r>
              <a:t>使命、愿景、价值观，不是写出来的，是选出来的。</a:t>
            </a:r>
            <a:br/>
            <a:br/>
            <a:r>
              <a:t>今晚这些问题，我在教练对话里常问。</a:t>
            </a:r>
            <a:br/>
            <a:r>
              <a:t>问对了，答案自己会出来。</a:t>
            </a:r>
            <a:br/>
            <a:br/>
            <a:r>
              <a:t>如果某个问题让你想多聊几句，会后找我。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D1A63"/>
                </a:solidFill>
                <a:latin typeface="Arial"/>
              </a:defRPr>
            </a:pPr>
            <a:r>
              <a:t>谢谢大家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91840"/>
            <a:ext cx="3017520" cy="381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14042"/>
                </a:solidFill>
                <a:latin typeface="Arial"/>
              </a:defRPr>
            </a:pPr>
            <a:r>
              <a:t>我是徐沛霖，商业教练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60E9F"/>
                </a:solidFill>
                <a:latin typeface="Arial"/>
              </a:defRPr>
            </a:pPr>
            <a:r>
              <a:t>陪老板变强，让生意变好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